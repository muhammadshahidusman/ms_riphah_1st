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98" r:id="rId5"/>
    <p:sldId id="302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19" autoAdjust="0"/>
  </p:normalViewPr>
  <p:slideViewPr>
    <p:cSldViewPr snapToGrid="0">
      <p:cViewPr varScale="1">
        <p:scale>
          <a:sx n="103" d="100"/>
          <a:sy n="103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11B7B-65A2-4F90-B72A-FEF903D623DA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EA6F8-F46F-4C3C-98EE-BABC686F017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244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A6F8-F46F-4C3C-98EE-BABC686F0178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872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Preliminary Literature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1600" dirty="0"/>
              <a:t>Muhammad Shahid Usman</a:t>
            </a:r>
            <a:br>
              <a:rPr lang="en-US" sz="1600" dirty="0"/>
            </a:br>
            <a:r>
              <a:rPr lang="en-US" sz="1600" dirty="0"/>
              <a:t>75786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98EE-8685-9014-6D07-A229BE5A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SELECTED PAPERS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7EA114-2DD7-D96E-F726-04140EB55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4812403"/>
              </p:ext>
            </p:extLst>
          </p:nvPr>
        </p:nvGraphicFramePr>
        <p:xfrm>
          <a:off x="4823852" y="176681"/>
          <a:ext cx="7184572" cy="637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938">
                  <a:extLst>
                    <a:ext uri="{9D8B030D-6E8A-4147-A177-3AD203B41FA5}">
                      <a16:colId xmlns:a16="http://schemas.microsoft.com/office/drawing/2014/main" val="253492688"/>
                    </a:ext>
                  </a:extLst>
                </a:gridCol>
                <a:gridCol w="4089777">
                  <a:extLst>
                    <a:ext uri="{9D8B030D-6E8A-4147-A177-3AD203B41FA5}">
                      <a16:colId xmlns:a16="http://schemas.microsoft.com/office/drawing/2014/main" val="1934596064"/>
                    </a:ext>
                  </a:extLst>
                </a:gridCol>
                <a:gridCol w="2394857">
                  <a:extLst>
                    <a:ext uri="{9D8B030D-6E8A-4147-A177-3AD203B41FA5}">
                      <a16:colId xmlns:a16="http://schemas.microsoft.com/office/drawing/2014/main" val="3572736880"/>
                    </a:ext>
                  </a:extLst>
                </a:gridCol>
              </a:tblGrid>
              <a:tr h="3654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No,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References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230088"/>
                  </a:ext>
                </a:extLst>
              </a:tr>
              <a:tr h="9010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High-Resolution Rural Poverty Mapping in Pakistan with Ensemble Deep Learning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https://doi.org/10.1371/journal.pone.0283938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638643"/>
                  </a:ext>
                </a:extLst>
              </a:tr>
              <a:tr h="9010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Human Bias and CNNs' Superior Insights in Satellite-Based Poverty Estimation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https://doi.org/10.1038/s41598-024-74150-9​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667205"/>
                  </a:ext>
                </a:extLst>
              </a:tr>
              <a:tr h="8695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Poverty Mapping in the Age of Machine Learning (World Bank)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https://openknowledge.worldbank.org/entities/publication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020928"/>
                  </a:ext>
                </a:extLst>
              </a:tr>
              <a:tr h="6307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Review of Machine Learning and Satellite Imagery for Poverty Prediction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https://doi.org/10.1002/jid.3751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928998"/>
                  </a:ext>
                </a:extLst>
              </a:tr>
              <a:tr h="6118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Exploring Machine Learning Trends in Poverty Mapping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https://doi.org/10.1016/j.srs.2025.100200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09577"/>
                  </a:ext>
                </a:extLst>
              </a:tr>
              <a:tr h="6118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Mapping Income Poverty in Belize Using Satellite Features and Machine Learning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http://dx.doi.org/10.18235/0002345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304196"/>
                  </a:ext>
                </a:extLst>
              </a:tr>
              <a:tr h="8695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 Study Using 2020 SDHS Data to Determine Poverty Drivers in Somalia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https://doi.org/10.1038/s41598-024-56466-8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2428"/>
                  </a:ext>
                </a:extLst>
              </a:tr>
              <a:tr h="6118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Livelihood and Poverty Mapping Analysis at Regional Scale in Pakistan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dirty="0"/>
                        <a:t>https://edepot.wur.nl/355191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90790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11B3B-CCBC-DECB-B5EC-CB4CD05E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I've identified eight high-quality, recent papers (2020-2025) from credible sources. Below is the detailed analysis for each: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7400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8151-69BC-8416-D895-991243F00317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High-Resolution Rural Poverty Mapping in Pakistan with Ensemble Deep Learning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8FC2-6264-F075-D44B-13CE7CDC8491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develop a high-resolution (1 km²) poverty map for rural Sindh, Pakistan, using ensemble deep learning to overcome limitations of traditional census-based approaches and enable better targeting of social welfare interventions.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ADA2BF-D614-9F7C-5864-1736229C1646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62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Data: 1.67 million georeferenced household observations from Pakistan's Simple Poverty Scorecard (SPSU) survey (2016-2019)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Models: Transfer learning approach using three CNN architectures (ResNet50, ResNet50V2, ResNet101) pre-trained on ImageNet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Ensemble: Combined the three models to create a robust predictor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Resolution: 1 km² grid cells with median poverty scores, dropped cells with &lt;3 or &gt;300 observations to reduce noise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Validation: Cross-validation plus ground truthing with original field survey</a:t>
            </a:r>
          </a:p>
          <a:p>
            <a:endParaRPr lang="en-US" sz="1600" dirty="0"/>
          </a:p>
          <a:p>
            <a:endParaRPr lang="en-PK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146D3C-1A7C-020E-5FA0-5BFCA0D1C07B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Ensemble model achieved superior performance compared to individual CNNs in predicting chronic poverty. Successfully differentiated between chronically poor and not chronically poor rural areas at 1 km² resolution, much finer than previous Pakistan studies</a:t>
            </a:r>
            <a:endParaRPr lang="en-PK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B1572D-95A1-7C14-9792-F3E2BF9D60E0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Spatial Noise: Training data had GPS errors—coordinates often captured in fields/roads rather than actual household locations, requiring 1 km² aggregation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Urban Exclusion: Study explicitly focused on rural areas; dropped all urban/peri-urban observations, leaving urban poverty unmapped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Geographic Limitation: Only covered Sindh Province; not tested in other Pakistani provinces with different terrains (Punjab, KPK, </a:t>
            </a:r>
            <a:r>
              <a:rPr lang="en-US" sz="1600" dirty="0" err="1"/>
              <a:t>Balochistan</a:t>
            </a:r>
            <a:r>
              <a:rPr lang="en-US" sz="1600" dirty="0"/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8E2F9B-1DA8-003B-B8AF-9B324EDE7EDA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01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74741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6EAF7-9A62-EEF1-EB62-A69085CA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1338-E859-6AFB-7BCD-8FA4BD1A1C7A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Human Bias and CNNs' Superior Insights in Satellite-Based Poverty Estimation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33D4-3DB4-578D-9993-257F99352EB7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compare human expert judgment versus CNN-based approaches for poverty estimation from satellite imagery, investigating where and why AI outperforms humans using Tanzania as a case study.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4DF32B-2AF6-BF7F-3978-151EAE2B9111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550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Human Expert Phase: Experts ranked poverty levels of 200 clusters from the Tanzania DHS survey using high-resolution Google Earth imagery.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Expert-ML Hybrid: Used expert-defined features (building density, road quality, vegetation) in traditional machine learning classifiers (Random Forest, SVM).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Pure CNN Approach: Trained a convolutional neural network on medium-resolution satellite images of the same locations without expert feature engineering.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Explainability: Applied SHAP (</a:t>
            </a:r>
            <a:r>
              <a:rPr lang="en-US" sz="2600" dirty="0" err="1"/>
              <a:t>SHapley</a:t>
            </a:r>
            <a:r>
              <a:rPr lang="en-US" sz="2600" dirty="0"/>
              <a:t> Additive </a:t>
            </a:r>
            <a:r>
              <a:rPr lang="en-US" sz="2600" dirty="0" err="1"/>
              <a:t>exPlanations</a:t>
            </a:r>
            <a:r>
              <a:rPr lang="en-US" sz="2600" dirty="0"/>
              <a:t>) to assess feature importance and interactions in expert-based models.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Comparison: Compared accuracy across all three approaches.</a:t>
            </a:r>
          </a:p>
          <a:p>
            <a:endParaRPr lang="en-US" sz="1600" dirty="0"/>
          </a:p>
          <a:p>
            <a:endParaRPr lang="en-PK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2D4098-B4B9-D19B-97A1-C00E48F65A10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CNN Superiority: CNN using medium-resolution imagery significantly outperformed human experts using high-resolution imagery. CNNs learn visual patterns that are invisible or </a:t>
            </a:r>
            <a:r>
              <a:rPr lang="en-US" sz="1600" dirty="0" err="1"/>
              <a:t>unrecognisable</a:t>
            </a:r>
            <a:r>
              <a:rPr lang="en-US" sz="1600" dirty="0"/>
              <a:t> to humans, potentially capturing subtle poverty indicators.</a:t>
            </a:r>
            <a:endParaRPr lang="en-PK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FCAA88-7BEC-AA6D-8168-50BADE3F1FBC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Single Country: Only tested in Tanzania; generalizability to other cultural/geographic contexts unknown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Resolution Trade-off: CNNs used medium-resolution images while experts had high-resolution access; unfair comparison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Small Sample: 200 clusters may be insufficient for robust conclusions about human vs. AI performance.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Temporal Snapshot: Single time-point analysis; doesn't assess poverty change detection over 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0F97A9-B77E-496E-5E02-A810AA1AE139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02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95484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290F-2A47-1A8D-9B4B-1FBE7C48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36CA-C4B2-7616-6028-BB48D67D1D46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Poverty Mapping in the Age of Machine Learning (World Bank)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77E3-44F9-2293-52F8-2906688EFD5E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demonstrate that combining satellite imagery with household surveys improves precision and accuracy of poverty estimates at municipal level (small areas not representative in surveys) in Mexico.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1B908A-9E44-9E8A-17AF-BF0F3D477E00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62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Data: Mexican household surveys + Sentinel-2 satellite imagery (2015-2020).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Small Area Estimation (SAE): Traditional statistical technique for estimating indicators in areas with small/no survey samples.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ML Integration: Extracted satellite-derived features (nightlights, NDVI, building density) and incorporated into SAE models.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Household-Level Model: Built models at household level rather than aggregating first.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Comparison: Compared accuracy across all three approaches.</a:t>
            </a:r>
          </a:p>
          <a:p>
            <a:endParaRPr lang="en-US" sz="1600" dirty="0"/>
          </a:p>
          <a:p>
            <a:endParaRPr lang="en-PK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F00BB4-0DE4-C3C9-F04A-DB85C73CF8A2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Improved Precision: </a:t>
            </a:r>
            <a:r>
              <a:rPr lang="en-US" sz="1600" dirty="0" err="1"/>
              <a:t>Satellite+ML</a:t>
            </a:r>
            <a:r>
              <a:rPr lang="en-US" sz="1600" dirty="0"/>
              <a:t> approach improved poverty estimate precision at municipal level (non-representative in surveys)​. Household Model Advantage: Household-level modeling outperformed other standard SAE methods.</a:t>
            </a:r>
            <a:endParaRPr lang="en-PK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B1E5D5-51C0-80D7-A445-34BEA2202A43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Census Still Better: 2015 satellite-based estimates were less accurate than 2010 census estimates, suggesting satellite data supplements but doesn't fully replace census.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Requires Survey Data: Still needs household survey for training; not a standalone approach.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Municipal Level Only: Didn't achieve neighborhood-level granularity; limited by survey representativeness.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Mexico-Specific: Findings from middle-income Mexico may not transfer to lower-income countries with different poverty manifestations.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FC7733-E015-CE50-78E2-E3A8E4F8836A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03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90664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C5AC-E4E9-CE07-FE07-AE138E14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2CD0-1700-7D37-BFAF-078A8D836516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Review of Machine Learning and Satellite Imagery for Poverty Prediction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9210-49C3-0BAA-9395-EDC7FC3ED70D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systematically </a:t>
            </a:r>
            <a:r>
              <a:rPr lang="en-US" sz="1600" dirty="0" err="1"/>
              <a:t>analyse</a:t>
            </a:r>
            <a:r>
              <a:rPr lang="en-US" sz="1600" dirty="0"/>
              <a:t> the expanding literature on poverty prediction using machine learning and satellite imagery, identifying trends, methodologies, challenges, and implications for development policy.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D1AC22-E147-DD4F-EA0B-1668BE57F05C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62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Systematic Literature Review: Statistical analysis of 60+ papers published in the domain.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 </a:t>
            </a:r>
            <a:r>
              <a:rPr lang="en-US" sz="2600" dirty="0" err="1"/>
              <a:t>Categorisation</a:t>
            </a:r>
            <a:r>
              <a:rPr lang="en-US" sz="2600" dirty="0"/>
              <a:t>: Papers classified by geographic region, ML algorithms used, satellite data sources, poverty indicators, and validation methods.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Trend Analysis: Temporal trends in publications, methodological evolution, and accuracy improvements over time.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600" dirty="0"/>
              <a:t>Gap Analysis: Identified under-researched areas and methodological limitations across the field.</a:t>
            </a: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7738F0-5906-9382-72FD-6FB525C5D4EB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Rapid Growth: Exponential increase in publications since 2016​. Nighttime lights + daytime imagery most common combination; transfer learning from ImageNet widespread. Geographic Bias: Most studies focus on Africa (60%) and Asia (30%); Latin America and the Middle East are underrepresented.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6DB889-F65A-681C-3F21-D42D3C0FD5B7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Urban Poverty Gap: Most studies focus on rural areas; urban informal settlements underexplored.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Temporal Dynamics: Limited research on poverty change detection over time (longitudinal studies).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Interpretability: Black-box nature of CNNs makes it difficult for policymakers to trust and act on predictions.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Policy Integration: Few studies demonstrate actual integration into government decision-making processes.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Multidimensional Poverty: Most focus on income poverty; limited work on multidimensional poverty indices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C33811-FFCA-E54D-6764-15CC3314B95C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04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831035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D484-D694-E252-7035-7462454A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534D-BAFD-A6A1-6A5B-2AB33EE9CF11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Exploring Machine Learning Trends in Poverty Mapping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A82F-2B3E-45A5-F186-EC1084C07C74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explore emerging trends in ML-based poverty mapping, particularly integration of multiple data sources (satellite imagery + mobile phone data + social media) for a high-resolution, frequently updated poverty map.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53C80E-D0A5-90E2-BAA5-CB9DACEF0E05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Literature Synthesis: Analysis of recent (2020-2025) poverty mapping studies.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 Multi-Source Data Integration: Focus on studies combining satellite data with call detail records (CDRs), social media activity, and financial transactions.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Trend Identification: Emerging methodologies, data fusion techniques, and real-time updating capabilities.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3DE301-0D78-A52C-FD65-DB06CE7537C5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Data Fusion Advantage: Combining satellite imagery with mobile phone data creates higher-resolution poverty maps than either source alone. Regular Updates: Mobile/social media data enables quarterly or monthly poverty map updates, rather than 3-5-year survey cycles.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FE4406-6F3F-0736-04CB-DBCC229166FF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550" dirty="0"/>
              <a:t>Data Access: Mobile phone data is often proprietary; it is difficult for researchers to access, limiting replicability.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550" dirty="0"/>
              <a:t>Digital Divide: Mobile data-based approaches exclude the poorest populations without phones, potentially biasing the estimate.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550" dirty="0"/>
              <a:t>Validation Challenges: High update frequency makes ground-truth validation difficult and expensive.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550" dirty="0"/>
              <a:t>Developing Countries: Advanced data fusion requires infrastructure (mobile networks, internet) not universally available.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550" dirty="0"/>
              <a:t>Methodological Complexity: Combining heterogeneous data sources requires sophisticated data engineering, increasing barriers to adoption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1A2C13-C947-1770-CDCD-B735E3FC80B7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05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59016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9C7B-F0E5-298F-FFD6-C2395FE4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29A0-229D-4A32-A7E1-6337F51406F2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Mapping Income Poverty in Belize Using Satellite Features and Machine Learning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22E3-BEE1-37AA-3AAC-CD38B2811BED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create poverty maps for Belize using free, open-source methodologies linking satellite imagery and survey data with ML, addressing the 11-year gap since Belize's last poverty assessment (2009).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B1E647-9E0F-5DDA-50D0-CB4A78E1501A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Data: Household survey data from 2009 + Sentinel-2 and MODIS satellite imagery (2018-2019).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 Feature Extraction: Manual extraction of features from satellite images: NDVI (vegetation), nighttime lights intensity, urban extent, road density.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ML Model: Random Forest regression to predict average district-level income.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Small Area Estimation: Incorporated satellite features into SAE framework for sub-national estimates.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7DFDB5-AB2D-5961-5F6B-E340064FDDBB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Cost-Effective: Demonstrated poverty mapping at reduced cost compared to comprehensive household surveys. Free Satellite Data: Exclusively uses freely available Sentinel-2 and MODIS, no commercial imagery required.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937035-0039-3BC3-B6FD-A9825537BCF7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District-Level Only: Achieved only district-level resolution; insufficient for </a:t>
            </a:r>
            <a:r>
              <a:rPr lang="en-US" sz="1600" dirty="0" err="1"/>
              <a:t>neighbourhood</a:t>
            </a:r>
            <a:r>
              <a:rPr lang="en-US" sz="1600" dirty="0"/>
              <a:t>-level targeting.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Old Survey Data: Trained on 2009 survey data applied to 2018-2019 imagery; 10-year gap introduces uncertainty.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Manual Features: Relied on hand-crafted features rather than deep learning's automatic feature extraction.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Limited Validation: Belize's lack of recent survey data meant limited ability to validate predictions rigorously.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Small Country: Methodology tested in small country (population 400,000); scalability to large, diverse countries uncertain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361455-8E09-075D-0C68-42A5118D1B9E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06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94180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3DCF-E43C-C3DF-C22D-FE9AF849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15E5-B641-9586-4623-4D569489E17C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 Study Using 2020 SDHS Data to Determine Poverty Drivers in Somalia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9218-AF96-7CF6-4691-C6E5F3D7F5D0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apply advanced ML methods to predict poverty in Somalia (one of world's highest poverty rates) and identify key poverty drivers, moving beyond conventional regression analysis with limited predictive capability.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17F42D-0BE5-8AC2-BF37-50B513063566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Data: 2020 Somalia Demographic and Health Survey (SDHS)—first-ever comprehensive survey in Somalia.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ML Algorithms: Random Forest (RF), Decision Tree (DT), Support Vector Machine (SVM), and Logistic Regression tested and compared.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Software: R (version 4.1.2) for ML analysis, STATA 17 for conventional </a:t>
            </a:r>
            <a:r>
              <a:rPr lang="en-US" sz="1700" dirty="0" err="1"/>
              <a:t>regressio</a:t>
            </a:r>
            <a:r>
              <a:rPr lang="en-US" sz="17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Predictor Variables: Education, household size, assets, employment, geographic location, access to services.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66837D-DD19-E84F-54E4-5FD07C83700D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Random Forest Best: RF achieved highest accuracy (78%) and AUROC (0.82) among tested algorithms. ML Advantage: ML methods (especially RF) significantly outperformed conventional logistic regression in predictive accuracy.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133FB5-C468-E97F-62D4-A36122157176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No Satellite Data: Study relied solely on survey data; didn't incorporate satellite imagery or geospatial features.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Cross-Sectional: Single time-point; cannot assess poverty dynamics or trends.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Survey-Based: Subject to same limitations as traditional surveys (cost, time, spatial coverage).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Interpretability: While RF performed best, its complex decision trees make interpretation difficult for policymakers.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Somalia-Specific: Findings specific to Somalia's unique context (conflict-affected, limited infrastructure); generalizability limited.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38AEDF-98C7-DF28-F055-36A963B6CC28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07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730391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2C6C-99EB-466B-A42E-2E898531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ED4F-8FF5-2360-05FD-FF365246855E}"/>
              </a:ext>
            </a:extLst>
          </p:cNvPr>
          <p:cNvSpPr txBox="1">
            <a:spLocks/>
          </p:cNvSpPr>
          <p:nvPr/>
        </p:nvSpPr>
        <p:spPr>
          <a:xfrm>
            <a:off x="1147042" y="93000"/>
            <a:ext cx="10058400" cy="965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Livelihood and Poverty Mapping Analysis at the Regional Scale in Pakistan</a:t>
            </a:r>
            <a:endParaRPr lang="en-PK" sz="3200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0C19-2ECB-D6BD-CD7E-3D86CE4BDDFB}"/>
              </a:ext>
            </a:extLst>
          </p:cNvPr>
          <p:cNvSpPr txBox="1">
            <a:spLocks/>
          </p:cNvSpPr>
          <p:nvPr/>
        </p:nvSpPr>
        <p:spPr>
          <a:xfrm>
            <a:off x="102638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Purpose: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To map both unidimensional (income-based) and multidimensional poverty simultaneously in Pakistan at the district level, providing the first comprehensive poverty maps showing spatial distribution across all four provinces.</a:t>
            </a:r>
            <a:endParaRPr lang="en-PK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AF823C-FE61-D14C-311C-BD03A9857553}"/>
              </a:ext>
            </a:extLst>
          </p:cNvPr>
          <p:cNvSpPr txBox="1">
            <a:spLocks/>
          </p:cNvSpPr>
          <p:nvPr/>
        </p:nvSpPr>
        <p:spPr>
          <a:xfrm>
            <a:off x="102638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2600" b="1" dirty="0">
                <a:solidFill>
                  <a:schemeClr val="accent6">
                    <a:lumMod val="75000"/>
                  </a:schemeClr>
                </a:solidFill>
              </a:rPr>
              <a:t>Methods:</a:t>
            </a:r>
            <a:endParaRPr lang="en-US" sz="2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Data: PSLM 2010-11 survey data for multi-dimensional poverty; HIES (Household Integrated Economic Survey) 2010-11 for income poverty.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Small Area Estimation: Used SAE technique to generate district-level poverty estimates from nationally representative surveys.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Poverty Measures: Uni-dimensional (income below poverty line) and multi-dimensional (education, health, living standards).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700" dirty="0"/>
              <a:t>Spatial Analysis: Mapped poverty distribution across districts, identifying poverty pockets and geographic patterns.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DFCD72-2D58-0D5B-CDC3-8D35C5664FC2}"/>
              </a:ext>
            </a:extLst>
          </p:cNvPr>
          <p:cNvSpPr txBox="1">
            <a:spLocks/>
          </p:cNvSpPr>
          <p:nvPr/>
        </p:nvSpPr>
        <p:spPr>
          <a:xfrm>
            <a:off x="6176243" y="1133516"/>
            <a:ext cx="5913120" cy="14507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Key Findings/Contributions: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/>
              <a:t>Multi-Dimensional Worse: Multi-dimensional poverty rates are substantially higher than income poverty, indicating severe social sector underdevelopment. ML Advantage: Urban-Rural Gap: Rural areas have much higher poverty incidence than urban </a:t>
            </a:r>
            <a:r>
              <a:rPr lang="en-US" sz="1600" dirty="0" err="1"/>
              <a:t>centres</a:t>
            </a:r>
            <a:r>
              <a:rPr lang="en-US" sz="1600" dirty="0"/>
              <a:t> across all provinces.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F81238-C733-B49B-005B-EF464750AE3E}"/>
              </a:ext>
            </a:extLst>
          </p:cNvPr>
          <p:cNvSpPr txBox="1">
            <a:spLocks/>
          </p:cNvSpPr>
          <p:nvPr/>
        </p:nvSpPr>
        <p:spPr>
          <a:xfrm>
            <a:off x="6176242" y="2659224"/>
            <a:ext cx="5913119" cy="36389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PK" sz="1600" b="1" dirty="0">
                <a:solidFill>
                  <a:schemeClr val="accent6">
                    <a:lumMod val="75000"/>
                  </a:schemeClr>
                </a:solidFill>
              </a:rPr>
              <a:t>Limitations/Gaps: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2010-11 Data: Now outdated (14+ years old); poverty patterns likely changed significantly.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District-Level Only: Provided district aggregates; insufficient for sub-district/neighborhood-level targeting.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No Satellite Data: Traditional survey-based approach; doesn't leverage remote sensing potential.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Static Snapshot: Single time-point; no analysis of poverty dynamics or trends.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Limited Lahore Focus: Aggregated the entire Lahore district without intra-city spatial analysis.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004807-AF4E-3EB8-4A17-8F8E390C891D}"/>
              </a:ext>
            </a:extLst>
          </p:cNvPr>
          <p:cNvSpPr/>
          <p:nvPr/>
        </p:nvSpPr>
        <p:spPr>
          <a:xfrm>
            <a:off x="102638" y="93000"/>
            <a:ext cx="1044404" cy="965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 08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67636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93A1-FEE4-7E6B-BD6D-417359EE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SYNTHESIS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209F-1C5F-8091-FFF4-B24E2C889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57" y="395671"/>
            <a:ext cx="6670812" cy="6163749"/>
          </a:xfrm>
        </p:spPr>
        <p:txBody>
          <a:bodyPr>
            <a:normAutofit fontScale="85000" lnSpcReduction="10000"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Key Points:</a:t>
            </a:r>
          </a:p>
          <a:p>
            <a:pPr algn="l">
              <a:buNone/>
            </a:pPr>
            <a:r>
              <a:rPr lang="en-PK" b="0" i="0" dirty="0">
                <a:effectLst/>
                <a:latin typeface="fkGroteskNeue"/>
              </a:rPr>
              <a:t>🚀 </a:t>
            </a:r>
            <a:r>
              <a:rPr lang="en-US" b="0" i="0" dirty="0">
                <a:effectLst/>
                <a:latin typeface="fkGroteskNeue"/>
              </a:rPr>
              <a:t>Transformative Shift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Traditional census/surveys → Satellite + AI methods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70% of studies now use CNN-based approaches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Driven by: Free satellite data + Deep learning maturity + Policy demand</a:t>
            </a:r>
          </a:p>
          <a:p>
            <a:pPr algn="l">
              <a:buNone/>
            </a:pPr>
            <a:r>
              <a:rPr lang="en-PK" b="0" i="0" dirty="0">
                <a:effectLst/>
                <a:latin typeface="fkGroteskNeue"/>
              </a:rPr>
              <a:t>🌍 </a:t>
            </a:r>
            <a:r>
              <a:rPr lang="en-US" b="0" i="0" dirty="0">
                <a:effectLst/>
                <a:latin typeface="fkGroteskNeue"/>
              </a:rPr>
              <a:t>Geographic Focus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60% Sub-Saharan Africa, 30% South Asia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Pakistan = key testbed (Sindh mapping, PSLM-based studies)</a:t>
            </a:r>
          </a:p>
          <a:p>
            <a:pPr algn="l">
              <a:buNone/>
            </a:pPr>
            <a:r>
              <a:rPr lang="en-PK" b="0" i="0" dirty="0">
                <a:effectLst/>
                <a:latin typeface="fkGroteskNeue"/>
              </a:rPr>
              <a:t>🔬 </a:t>
            </a:r>
            <a:r>
              <a:rPr lang="en-US" b="0" i="0" dirty="0">
                <a:effectLst/>
                <a:latin typeface="fkGroteskNeue"/>
              </a:rPr>
              <a:t>Two Technical Paradigms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Transfer Learning CNNs: ImageNet → Satellite imagery fine-tuning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Traditional ML: Random Forest/SVM + hand-crafted features (NDVI, nightlights)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Winner: CNNs outperform humans AND traditional ML</a:t>
            </a:r>
          </a:p>
          <a:p>
            <a:pPr algn="l">
              <a:buNone/>
            </a:pPr>
            <a:r>
              <a:rPr lang="en-PK" b="0" i="0" dirty="0">
                <a:effectLst/>
                <a:latin typeface="fkGroteskNeue"/>
              </a:rPr>
              <a:t>📊 </a:t>
            </a:r>
            <a:r>
              <a:rPr lang="en-US" b="0" i="0" dirty="0">
                <a:effectLst/>
                <a:latin typeface="fkGroteskNeue"/>
              </a:rPr>
              <a:t>Resolution Progress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National → District → 1 km² grid cells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Gap: Urban neighborhoods (100-500m) still rare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A679F-4130-F430-C12E-340577380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Evolution of Poverty Mapping (2020-2025)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2292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F0BE-EB9F-3327-E4A9-D37337CA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Common Challenges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E13C64-889E-91C1-781C-DBF6F1E7A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792153"/>
              </p:ext>
            </p:extLst>
          </p:nvPr>
        </p:nvGraphicFramePr>
        <p:xfrm>
          <a:off x="5459413" y="812800"/>
          <a:ext cx="5927724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862">
                  <a:extLst>
                    <a:ext uri="{9D8B030D-6E8A-4147-A177-3AD203B41FA5}">
                      <a16:colId xmlns:a16="http://schemas.microsoft.com/office/drawing/2014/main" val="4012381355"/>
                    </a:ext>
                  </a:extLst>
                </a:gridCol>
                <a:gridCol w="2963862">
                  <a:extLst>
                    <a:ext uri="{9D8B030D-6E8A-4147-A177-3AD203B41FA5}">
                      <a16:colId xmlns:a16="http://schemas.microsoft.com/office/drawing/2014/main" val="2457684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8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Ground-Truth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GPS </a:t>
                      </a:r>
                      <a:r>
                        <a:rPr lang="fr-FR" dirty="0" err="1"/>
                        <a:t>errors</a:t>
                      </a:r>
                      <a:r>
                        <a:rPr lang="fr-FR" dirty="0"/>
                        <a:t> ±50-100m, temporal </a:t>
                      </a:r>
                      <a:r>
                        <a:rPr lang="fr-FR" dirty="0" err="1"/>
                        <a:t>misalignment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54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Urban-Rural 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80% studies = rural; urban slums underexplored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37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Black Box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CNNs accurate but unexplainable → policy distrust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50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Validation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 field surveys; most use same-source testing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131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Poor Generalizability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Models fail across countries/regions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26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 data proprietary; high-res imagery costly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425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GPUs, storage, expertise = barriers for </a:t>
                      </a:r>
                      <a:r>
                        <a:rPr lang="en-PK" dirty="0" err="1"/>
                        <a:t>LMICs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36489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20A64-CF10-A808-69BE-03EB7A0B3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Critical Challenges in Poverty Mapping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23149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C015-5379-9F73-2720-FAC137AD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GAP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1FDB-4F59-900A-353B-D2932A8DF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365" y="391885"/>
            <a:ext cx="6218169" cy="57156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Spatial </a:t>
            </a:r>
            <a:r>
              <a:rPr lang="en-US" dirty="0" err="1"/>
              <a:t>Inadequacy:Studies</a:t>
            </a:r>
            <a:r>
              <a:rPr lang="en-US" dirty="0"/>
              <a:t> focus on rural areas or district-level aggregates, lacking the </a:t>
            </a:r>
            <a:r>
              <a:rPr lang="en-US" dirty="0" err="1"/>
              <a:t>neighbourhood</a:t>
            </a:r>
            <a:r>
              <a:rPr lang="en-US" dirty="0"/>
              <a:t>-level granularity (100m-500m) required for targeted urban poverty interventions in heterogeneous cities like Lahore.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Architectural Inflexibility: Monolithic ML pipelines prevent modular reuse of analytical components by different government agencies, limiting scalability and cross-domain knowledge transfer. No framework exists for microservices-based geospatial feature extraction with quantified reusability metric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PK" dirty="0"/>
              <a:t>Policy Integration Gap: Despite technical accuracy improvements, few systems demonstrate operational deployment within government decision-making infrastructure, and none integrate poverty mapping with complementary policy domains (e.g., renewable energy planning via solar panel detection).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1A8F7-1A7F-D01B-67F3-36FA476CC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While recent advances in satellite-based poverty mapping demonstrate feasibility and accuracy improvements through deep learning, existing work suffers from three critical limitations when applied to Pakistani urban policy contexts: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7594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80ED2C-EFC2-610D-ECC0-A1A291D637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" r="1" b="18366"/>
          <a:stretch>
            <a:fillRect/>
          </a:stretch>
        </p:blipFill>
        <p:spPr>
          <a:xfrm>
            <a:off x="2062065" y="0"/>
            <a:ext cx="8397551" cy="4578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9A946A-DAEF-4384-EF1D-9050227A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866" y="4651310"/>
            <a:ext cx="10113645" cy="574494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This Research addresses this gap by:</a:t>
            </a:r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8AF6E-1EA9-232C-3037-685B8056E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1710" y="5298765"/>
            <a:ext cx="11728579" cy="161419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Developing a microservices-based satellite poverty mapping system specifically for District Lahore at 100m×100m resolution, integrating building density, infrastructure, vegetation, and solar panel indicators through independent, reusable deep learning services (U-Net, DeepLabV3+, YOLO), with demonstrated policy integration via Lahore Metropolitan Corporation and Punjab Bureau of Statistics platforms, and empirical evaluation of architectural advantages (reusability, maintainability, deployment efficiency) over monolithic designs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9608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1928-41AD-79C0-0925-44463721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50" y="1980702"/>
            <a:ext cx="3517567" cy="2093975"/>
          </a:xfrm>
        </p:spPr>
        <p:txBody>
          <a:bodyPr/>
          <a:lstStyle/>
          <a:p>
            <a:r>
              <a:rPr lang="en-US" b="1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Generalised</a:t>
            </a:r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</a:t>
            </a:r>
            <a:r>
              <a:rPr lang="en-PK" b="1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roblem</a:t>
            </a:r>
            <a:r>
              <a:rPr lang="en-PK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</a:t>
            </a:r>
            <a:r>
              <a:rPr lang="en-PK" b="1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tatemen</a:t>
            </a:r>
            <a:r>
              <a:rPr lang="en-US" b="1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</a:t>
            </a:r>
            <a:endParaRPr lang="en-PK" b="1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887B-68C2-2795-E056-DB272F1BE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130" y="462383"/>
            <a:ext cx="6904077" cy="593323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Urban poverty assessment in developing countries relies predominantly on infrequent household surveys that lack the spatial granularity and temporal resolution required for evidence-based policy interventions. Traditional census and survey-based approaches, conducted at 3-5 year intervals, provide only district or provincial-level aggregates, masking intra-urban heterogeneity and delaying response to rapidly changing socioeconomic conditions. While recent advances in satellite remote sensing and deep learning demonstrate the feasibility of high-resolution poverty mapping, existing approaches suffer from three critical limitations:</a:t>
            </a:r>
          </a:p>
          <a:p>
            <a:r>
              <a:rPr lang="en-US" dirty="0"/>
              <a:t> (1) architectural inflexibility, monolithic machine learning pipelines prevent modular reuse of analytical components across government agencies, </a:t>
            </a:r>
          </a:p>
          <a:p>
            <a:r>
              <a:rPr lang="en-US" dirty="0"/>
              <a:t>(2) urban context gap: most studies focus on rural areas, leaving heterogeneous urban </a:t>
            </a:r>
            <a:r>
              <a:rPr lang="en-US" dirty="0" err="1"/>
              <a:t>neighbourhoods</a:t>
            </a:r>
            <a:r>
              <a:rPr lang="en-US" dirty="0"/>
              <a:t> unmapped at policy-relevant scales (100-500m resolution), and </a:t>
            </a:r>
          </a:p>
          <a:p>
            <a:r>
              <a:rPr lang="en-US" dirty="0"/>
              <a:t>(3) policy integration deficit: Few systems demonstrate operational deployment within the government decision-making infrastructure. </a:t>
            </a:r>
          </a:p>
          <a:p>
            <a:r>
              <a:rPr lang="en-US" dirty="0"/>
              <a:t>These limitations collectively hinder the scalability, maintainability, and actionable impact of satellite-based poverty monitoring systems in resource-constrained urban governance contexts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156217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{214AB72E-7CE6-4170-87C8-35BF6A907A12}TFb63a7776-4452-49b2-8055-21efce632b726e3c8758_win32-7d1db0309ca7</Template>
  <TotalTime>229</TotalTime>
  <Words>2793</Words>
  <Application>Microsoft Office PowerPoint</Application>
  <PresentationFormat>Widescreen</PresentationFormat>
  <Paragraphs>198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fkGroteskNeue</vt:lpstr>
      <vt:lpstr>Franklin Gothic Book</vt:lpstr>
      <vt:lpstr>Wingdings</vt:lpstr>
      <vt:lpstr>Custom</vt:lpstr>
      <vt:lpstr>Preliminary Literature Exploration</vt:lpstr>
      <vt:lpstr>SELECTED PAPERS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SYNTHESIS OF FINDINGS</vt:lpstr>
      <vt:lpstr>Common Challenges</vt:lpstr>
      <vt:lpstr>GAP STATEMENT</vt:lpstr>
      <vt:lpstr> This Research addresses this gap by:</vt:lpstr>
      <vt:lpstr>Generalised 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HAROON UR RASHID</dc:creator>
  <cp:lastModifiedBy>HAROON UR RASHID</cp:lastModifiedBy>
  <cp:revision>13</cp:revision>
  <dcterms:created xsi:type="dcterms:W3CDTF">2025-10-31T05:24:58Z</dcterms:created>
  <dcterms:modified xsi:type="dcterms:W3CDTF">2025-10-31T09:14:44Z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